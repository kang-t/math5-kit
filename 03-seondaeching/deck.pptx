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3편 거울 그림판. 1편은 합동, 2편은 합동인 도형의 성질이었고 오늘은 '선대칭도형'이다. 오늘은 한쪽에 그리면 반대쪽에 비치는 그림판으로 선대칭의 비밀을 직접 찾는다. 성질은 먼저 말해 주지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0~5분 도입. 세로 점선 왼쪽에만 나비 반쪽이 있다. "오른쪽은 어떻게 생겼을까?" 손가락으로 허공에 그려 보게 한다. 점선이 '대칭축'이라는 이름은 아직 말하지 않고 '접는 선' 정도로만 부른다.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완성된 나비를 보이고 "점선을 따라 접으면 완전히 겹칠까?" ○× 투표. 이유를 한두 명에게 듣고("양쪽이 똑같아서"), '똑같다'가 정확히 무엇이 같다는 뜻인지는 오늘 찾아볼 거라고 예고한다.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5~15분. AIDT 선대칭도형 차시를 연다. 도형을 접어 완전히 겹치는지 조작하고, 겹치게 하는 접는 선을 찾는다. 정사각형은 접는 선이 4개(가로·세로·대각선 2)라는 것도 한 번 보여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AIDT에서 접어 본 뒤 이름을 붙인다: 선대칭도형, 대칭축, 대응점·대응변·대응각(2편에서 배운 말). 그림의 칸 수와 직각 표시는 아직 짚지 않는다 — 탐구가 끝난 뒤 9장에서 돌아온다.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15분. 2명이 태블릿 1대. QR 또는 주소로 거울 그림판을 연다(로그인·계정 없음). 앱은 아무것도 저장·전송하지 않으므로 새로고침하면 그림이 사라진다고 미리 알려 준다. 활동지를 모둠에 1장씩 나눠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1단계(3분): 아무거나 그려 반대쪽이 비치는 것을 실컷 보게 한다. 2단계(10분): '점 찍기'를 누르고 서로 다른 자리에 점 3개를 찍는다. 화면에 뜨는 왼쪽·오른쪽 칸 수와 만나는 각을 활동지 표에 적는다. 점은 격자에 맞춰 찍혀 숫자가 깔끔하게 나온다. "세 번 다 어떤가?"만 묻고 규칙은 말해 주지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3단계(7분). 격자를 켜고 대칭축을 가로로 바꾼다(바꾸면 그림이 지워지므로 1·2단계를 끝낸 뒤). 활동지 뒷면 그림처럼 ㅁ·ㄷ의 아래 반쪽을 그리면 위쪽에 비쳐 글자가 완성된다. ① "비친 모양까지 합치면 무슨 글자?" — ㅁ의 반쪽 → ㅁ, ㄷ의 반쪽 → ㄷ(아래 반쪽은 ㄴ처럼 보이지만 비치면 ㄷ). ② "그럼 ㄴ도 대칭축이 가로일 때 선대칭도형이 될까?" — 안 된다. ㄴ은 아래 가로획만 있어 가로축으로 접으면 짝이 없다(비치면 ㄷ이 됨).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35분. 모둠 발견을 먼저 듣고 왼쪽을 하나씩 짚은 뒤 오른쪽 교과서 문장을 맞춘다. '거리가 같다'는 '대칭축이 선분을 둘로 똑같이 나눈다', '항상 90°'는 '수직으로 만난다'와 같은 말이다. 5장 그림(ㄱ–ㄱ′, 4칸·4칸, 직각 표시)으로 돌아가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AIDT 형성평가 2~3문항을 개별로 푼다. 대칭축 그리기, 대응점 찾기, 거리 구하기 문항에서 오늘 찾은 성질을 쓰는지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정답: 수직, 둘. 활동지 뒷면 '오늘 배운 성질 한 줄'에 쓰게 한다. 다 쓴 모둠은 2장 반쪽 나비로 돌아가 "이제 오른쪽을 정확히 그릴 수 있지?"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거울 그림판은 HTML 한 파일이고 로그인·저장·전송이 없다. 제미나이 캔버스로 다시 만들 때는 생성 결과에서 점 찍기로 양쪽 거리가 같은지 먼저 확인하고, 어긋나면 "대칭축 기준으로 x좌표를 뒤집어 줘"라고 한 줄 더 요청한다. AIDT가 없는 반은 종이를 접어 대칭축을 만들고 자로 대응점까지의 거리를 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257800" y="502920"/>
            <a:ext cx="3429000" cy="26060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cover.png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764" y="585216"/>
            <a:ext cx="3243072" cy="24323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858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FFFFFF"/>
                </a:solidFill>
                <a:latin typeface="맑은 고딕"/>
                <a:ea typeface="맑은 고딕"/>
              </a:rPr>
              <a:t>거울 그림판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2B134"/>
                </a:solidFill>
                <a:latin typeface="맑은 고딕"/>
                <a:ea typeface="맑은 고딕"/>
              </a:rPr>
              <a:t>선대칭도형의 비밀을</a:t>
            </a:r>
          </a:p>
          <a:p>
            <a:pPr algn="l">
              <a:lnSpc>
                <a:spcPct val="115000"/>
              </a:lnSpc>
            </a:pPr>
            <a:r>
              <a:rPr sz="2800" b="1">
                <a:solidFill>
                  <a:srgbClr val="F2B134"/>
                </a:solidFill>
                <a:latin typeface="맑은 고딕"/>
                <a:ea typeface="맑은 고딕"/>
              </a:rPr>
              <a:t>찾아라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DCE6F0"/>
                </a:solidFill>
                <a:latin typeface="맑은 고딕"/>
                <a:ea typeface="맑은 고딕"/>
              </a:rPr>
              <a:t>비상 수학 5-2 · 3단원 합동과 대칭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DCE6F0"/>
                </a:solidFill>
                <a:latin typeface="맑은 고딕"/>
                <a:ea typeface="맑은 고딕"/>
              </a:rPr>
              <a:t>선대칭도형과 그 성질 · 40분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749807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3A5F"/>
                </a:solidFill>
                <a:latin typeface="맑은 고딕"/>
                <a:ea typeface="맑은 고딕"/>
              </a:rPr>
              <a:t>오른쪽은 어떻게 생겼을까?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120640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butterfly_half.png" descr="butterfly_ha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51" y="1243584"/>
            <a:ext cx="4669536" cy="35021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06440" y="1188720"/>
            <a:ext cx="2880360" cy="1600200"/>
          </a:xfrm>
          <a:prstGeom prst="roundRect">
            <a:avLst>
              <a:gd name="adj" fmla="val 8571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1188720"/>
            <a:ext cx="288036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손가락으로</a:t>
            </a:r>
          </a:p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허공에 그려 봐요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3017520"/>
            <a:ext cx="2880360" cy="178308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3017520"/>
            <a:ext cx="2697480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점선을 따라</a:t>
            </a:r>
          </a:p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접으면</a:t>
            </a:r>
          </a:p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어떻게 될까?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749807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3A5F"/>
                </a:solidFill>
                <a:latin typeface="맑은 고딕"/>
                <a:ea typeface="맑은 고딕"/>
              </a:rPr>
              <a:t>접으면 겹칠까?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120640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butterfly_full.png" descr="butterfly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51" y="1243584"/>
            <a:ext cx="4669536" cy="35021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06440" y="1188720"/>
            <a:ext cx="2880360" cy="137160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1188720"/>
            <a:ext cx="288036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</a:rPr>
              <a:t>겹칠까?</a:t>
            </a:r>
          </a:p>
        </p:txBody>
      </p:sp>
      <p:sp>
        <p:nvSpPr>
          <p:cNvPr id="9" name="Oval 8"/>
          <p:cNvSpPr/>
          <p:nvPr/>
        </p:nvSpPr>
        <p:spPr>
          <a:xfrm>
            <a:off x="5943600" y="2743200"/>
            <a:ext cx="1051560" cy="10515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A9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2743200"/>
            <a:ext cx="10515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2A9D5C"/>
                </a:solidFill>
                <a:latin typeface="맑은 고딕"/>
                <a:ea typeface="맑은 고딕"/>
              </a:rPr>
              <a:t>○</a:t>
            </a:r>
          </a:p>
        </p:txBody>
      </p:sp>
      <p:sp>
        <p:nvSpPr>
          <p:cNvPr id="11" name="Oval 10"/>
          <p:cNvSpPr/>
          <p:nvPr/>
        </p:nvSpPr>
        <p:spPr>
          <a:xfrm>
            <a:off x="7498079" y="2743200"/>
            <a:ext cx="1051560" cy="10515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5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2743200"/>
            <a:ext cx="10515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D9544D"/>
                </a:solidFill>
                <a:latin typeface="맑은 고딕"/>
                <a:ea typeface="맑은 고딕"/>
              </a:rPr>
              <a:t>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06908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손을 들어 투표!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749807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3A5F"/>
                </a:solidFill>
                <a:latin typeface="맑은 고딕"/>
                <a:ea typeface="맑은 고딕"/>
              </a:rPr>
              <a:t>태블릿으로 접어 보자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0584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5A6B7F"/>
                </a:solidFill>
                <a:latin typeface="맑은 고딕"/>
                <a:ea typeface="맑은 고딕"/>
              </a:rPr>
              <a:t>비상 AIDT · 선대칭도형 차시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596896" cy="2194560"/>
          </a:xfrm>
          <a:prstGeom prst="roundRect">
            <a:avLst>
              <a:gd name="adj" fmla="val 625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1810512"/>
            <a:ext cx="768096" cy="7680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810512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0048"/>
            <a:ext cx="259689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접어서</a:t>
            </a:r>
          </a:p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겹쳐 보기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1645920"/>
            <a:ext cx="2596896" cy="2194560"/>
          </a:xfrm>
          <a:prstGeom prst="roundRect">
            <a:avLst>
              <a:gd name="adj" fmla="val 625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87952" y="1810512"/>
            <a:ext cx="768096" cy="7680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7952" y="1810512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670048"/>
            <a:ext cx="259689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접는 선</a:t>
            </a:r>
          </a:p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찾기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1645920"/>
            <a:ext cx="2596896" cy="2194560"/>
          </a:xfrm>
          <a:prstGeom prst="roundRect">
            <a:avLst>
              <a:gd name="adj" fmla="val 625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04304" y="1810512"/>
            <a:ext cx="768096" cy="7680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04304" y="1810512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2670048"/>
            <a:ext cx="259689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정사각형은</a:t>
            </a:r>
          </a:p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선이 몇 개?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41648"/>
            <a:ext cx="8229600" cy="731520"/>
          </a:xfrm>
          <a:prstGeom prst="roundRect">
            <a:avLst>
              <a:gd name="adj" fmla="val 18749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41648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완전히 겹치면 선대칭도형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749807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3A5F"/>
                </a:solidFill>
                <a:latin typeface="맑은 고딕"/>
                <a:ea typeface="맑은 고딕"/>
              </a:rPr>
              <a:t>이렇게 부르기로 해요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794760" cy="283464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concept.png" descr="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17295"/>
            <a:ext cx="3703320" cy="277749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434840" y="1188720"/>
            <a:ext cx="4251960" cy="859536"/>
          </a:xfrm>
          <a:prstGeom prst="roundRect">
            <a:avLst>
              <a:gd name="adj" fmla="val 15957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188720"/>
            <a:ext cx="393192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접어서 완전히 겹치는 도형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→ </a:t>
            </a: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선대칭도형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39696"/>
            <a:ext cx="4251960" cy="859536"/>
          </a:xfrm>
          <a:prstGeom prst="roundRect">
            <a:avLst>
              <a:gd name="adj" fmla="val 15957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39696"/>
            <a:ext cx="393192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겹치게 하는 직선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→ </a:t>
            </a: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대칭축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090672"/>
            <a:ext cx="4251960" cy="859536"/>
          </a:xfrm>
          <a:prstGeom prst="roundRect">
            <a:avLst>
              <a:gd name="adj" fmla="val 15957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090672"/>
            <a:ext cx="393192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겹치는 점·변·각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→ </a:t>
            </a: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대응점·대응변·대응각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60520"/>
            <a:ext cx="8229600" cy="658368"/>
          </a:xfrm>
          <a:prstGeom prst="roundRect">
            <a:avLst>
              <a:gd name="adj" fmla="val 20833"/>
            </a:avLst>
          </a:prstGeom>
          <a:solidFill>
            <a:srgbClr val="FBE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8229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점 ㄱ의 대응점은 점 ㄱ′ · 정사각형은 대칭축이 4개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749807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3A5F"/>
                </a:solidFill>
                <a:latin typeface="맑은 고딕"/>
                <a:ea typeface="맑은 고딕"/>
              </a:rPr>
              <a:t>거울 그림판을 열어요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200400" cy="361188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qr.png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2834639" cy="2834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2062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QR을 찍어요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18872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5A6B7F"/>
                </a:solidFill>
                <a:latin typeface="맑은 고딕"/>
                <a:ea typeface="맑은 고딕"/>
              </a:rPr>
              <a:t>또는 주소를 입력해요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737360"/>
            <a:ext cx="48006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173736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kang-t.github.io/math5-kit/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03-seondaeching/mirror.html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2926080"/>
            <a:ext cx="4800600" cy="777240"/>
          </a:xfrm>
          <a:prstGeom prst="roundRect">
            <a:avLst>
              <a:gd name="adj" fmla="val 17647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2926080"/>
            <a:ext cx="4526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E6B3A"/>
                </a:solidFill>
                <a:latin typeface="맑은 고딕"/>
                <a:ea typeface="맑은 고딕"/>
              </a:rPr>
              <a:t>두 명이 태블릿 한 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3840480"/>
            <a:ext cx="4800600" cy="960120"/>
          </a:xfrm>
          <a:prstGeom prst="roundRect">
            <a:avLst>
              <a:gd name="adj" fmla="val 14285"/>
            </a:avLst>
          </a:prstGeom>
          <a:solidFill>
            <a:srgbClr val="FBE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9080" y="3840480"/>
            <a:ext cx="45262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아무것도 저장하지 않아요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(새로고침하면 사라져요)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749807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3A5F"/>
                </a:solidFill>
                <a:latin typeface="맑은 고딕"/>
                <a:ea typeface="맑은 고딕"/>
              </a:rPr>
              <a:t>탐구 ① 놀이하고 점 찍기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868680"/>
          </a:xfrm>
          <a:prstGeom prst="roundRect">
            <a:avLst>
              <a:gd name="adj" fmla="val 15789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303020"/>
            <a:ext cx="640080" cy="640080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030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18872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1단계 · 3분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188720"/>
            <a:ext cx="48920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'그리기'로 아무거나 그려요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76272"/>
            <a:ext cx="8229600" cy="868680"/>
          </a:xfrm>
          <a:prstGeom prst="roundRect">
            <a:avLst>
              <a:gd name="adj" fmla="val 15789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2290572"/>
            <a:ext cx="640080" cy="640080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90572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176272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2단계 · 10분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176272"/>
            <a:ext cx="48920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'점 찍기'로 점 3개 → 표에 적어요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91840"/>
            <a:ext cx="1097280" cy="658368"/>
          </a:xfrm>
          <a:prstGeom prst="roundRect">
            <a:avLst>
              <a:gd name="adj" fmla="val 20833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10972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69080"/>
            <a:ext cx="1097280" cy="731520"/>
          </a:xfrm>
          <a:prstGeom prst="roundRect">
            <a:avLst>
              <a:gd name="adj" fmla="val 18749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06908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5A6B7F"/>
                </a:solidFill>
                <a:latin typeface="맑은 고딕"/>
                <a:ea typeface="맑은 고딕"/>
              </a:rPr>
              <a:t>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3291840"/>
            <a:ext cx="2240280" cy="658368"/>
          </a:xfrm>
          <a:prstGeom prst="roundRect">
            <a:avLst>
              <a:gd name="adj" fmla="val 20833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3291840"/>
            <a:ext cx="22402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왼쪽 거리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91640" y="4069080"/>
            <a:ext cx="2240280" cy="731520"/>
          </a:xfrm>
          <a:prstGeom prst="roundRect">
            <a:avLst>
              <a:gd name="adj" fmla="val 18749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91640" y="406908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5A6B7F"/>
                </a:solidFill>
                <a:latin typeface="맑은 고딕"/>
                <a:ea typeface="맑은 고딕"/>
              </a:rPr>
              <a:t>□ 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9080" y="3291840"/>
            <a:ext cx="2240280" cy="658368"/>
          </a:xfrm>
          <a:prstGeom prst="roundRect">
            <a:avLst>
              <a:gd name="adj" fmla="val 20833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69080" y="3291840"/>
            <a:ext cx="22402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오른쪽 거리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69080" y="4069080"/>
            <a:ext cx="2240280" cy="731520"/>
          </a:xfrm>
          <a:prstGeom prst="roundRect">
            <a:avLst>
              <a:gd name="adj" fmla="val 18749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69080" y="406908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5A6B7F"/>
                </a:solidFill>
                <a:latin typeface="맑은 고딕"/>
                <a:ea typeface="맑은 고딕"/>
              </a:rPr>
              <a:t>□ 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3291840"/>
            <a:ext cx="2240280" cy="658368"/>
          </a:xfrm>
          <a:prstGeom prst="roundRect">
            <a:avLst>
              <a:gd name="adj" fmla="val 20833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291840"/>
            <a:ext cx="22402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만나는 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069080"/>
            <a:ext cx="2240280" cy="731520"/>
          </a:xfrm>
          <a:prstGeom prst="roundRect">
            <a:avLst>
              <a:gd name="adj" fmla="val 18749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06908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5A6B7F"/>
                </a:solidFill>
                <a:latin typeface="맑은 고딕"/>
                <a:ea typeface="맑은 고딕"/>
              </a:rPr>
              <a:t>□ 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749807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3A5F"/>
                </a:solidFill>
                <a:latin typeface="맑은 고딕"/>
                <a:ea typeface="맑은 고딕"/>
              </a:rPr>
              <a:t>탐구 ② 글자 미션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420624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mission.png" descr="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" y="1170432"/>
            <a:ext cx="3950208" cy="29626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92040" y="1143000"/>
            <a:ext cx="3794760" cy="914400"/>
          </a:xfrm>
          <a:prstGeom prst="roundRect">
            <a:avLst>
              <a:gd name="adj" fmla="val 15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74920" y="1280160"/>
            <a:ext cx="640080" cy="6400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2801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14300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'격자 켜기'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2194560"/>
            <a:ext cx="3794760" cy="914400"/>
          </a:xfrm>
          <a:prstGeom prst="roundRect">
            <a:avLst>
              <a:gd name="adj" fmla="val 15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74920" y="2331720"/>
            <a:ext cx="640080" cy="6400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23317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19456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'대칭축: 가로'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3246120"/>
            <a:ext cx="3794760" cy="914400"/>
          </a:xfrm>
          <a:prstGeom prst="roundRect">
            <a:avLst>
              <a:gd name="adj" fmla="val 15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74920" y="3383279"/>
            <a:ext cx="640080" cy="6400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338327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24612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아래 반쪽을 그려요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97680"/>
            <a:ext cx="8229600" cy="594360"/>
          </a:xfrm>
          <a:prstGeom prst="roundRect">
            <a:avLst>
              <a:gd name="adj" fmla="val 23076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E6B3A"/>
                </a:solidFill>
                <a:latin typeface="맑은 고딕"/>
                <a:ea typeface="맑은 고딕"/>
              </a:rPr>
              <a:t>비친 모양까지 합치면 무슨 글자? 그럼 ㄴ도 될까?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749807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3A5F"/>
                </a:solidFill>
                <a:latin typeface="맑은 고딕"/>
                <a:ea typeface="맑은 고딕"/>
              </a:rPr>
              <a:t>우리가 찾은 것 = 교과서 문장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B7791F"/>
                </a:solidFill>
                <a:latin typeface="맑은 고딕"/>
                <a:ea typeface="맑은 고딕"/>
              </a:rPr>
              <a:t>우리가 찾은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0515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교과서 문장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27432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31750">
            <a:solidFill>
              <a:srgbClr val="F2B1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거리가 같다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00200"/>
            <a:ext cx="5486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B7791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600200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160020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대칭축은 대응점을 이은 선분을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둘로 똑같이 나눈다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15768"/>
            <a:ext cx="27432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31750">
            <a:solidFill>
              <a:srgbClr val="F2B1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15768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항상 90°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15768"/>
            <a:ext cx="5486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B7791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2715768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2715768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대응점을 이은 선분은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대칭축과 수직으로 만난다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31335"/>
            <a:ext cx="27432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31750">
            <a:solidFill>
              <a:srgbClr val="F2B1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31335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접으면 겹친다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831335"/>
            <a:ext cx="5486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B7791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3831335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39" y="3831335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대응변의 길이와 대응각의 크기가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서로 같다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749807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3A5F"/>
                </a:solidFill>
                <a:latin typeface="맑은 고딕"/>
                <a:ea typeface="맑은 고딕"/>
              </a:rPr>
              <a:t>AIDT로 확인해요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2103120" cy="3429000"/>
          </a:xfrm>
          <a:prstGeom prst="roundRect">
            <a:avLst>
              <a:gd name="adj" fmla="val 6521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481328"/>
            <a:ext cx="1737360" cy="283464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1737360" cy="2834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2B134"/>
                </a:solidFill>
                <a:latin typeface="맑은 고딕"/>
                <a:ea typeface="맑은 고딕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63040"/>
            <a:ext cx="5303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A5F"/>
                </a:solidFill>
                <a:latin typeface="맑은 고딕"/>
                <a:ea typeface="맑은 고딕"/>
              </a:rPr>
              <a:t>형성평가</a:t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A5F"/>
                </a:solidFill>
                <a:latin typeface="맑은 고딕"/>
                <a:ea typeface="맑은 고딕"/>
              </a:rPr>
              <a:t>2~3문항을 풀어요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97180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혼자서 풀어요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(비상 AIDT 해당 차시)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749807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3A5F"/>
                </a:solidFill>
                <a:latin typeface="맑은 고딕"/>
                <a:ea typeface="맑은 고딕"/>
              </a:rPr>
              <a:t>오늘 배운 것 한 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3611880"/>
          </a:xfrm>
          <a:prstGeom prst="roundRect">
            <a:avLst>
              <a:gd name="adj" fmla="val 3797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7589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맑은 고딕"/>
                <a:ea typeface="맑은 고딕"/>
              </a:rPr>
              <a:t>대응점을 이은 선분은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1554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맑은 고딕"/>
                <a:ea typeface="맑은 고딕"/>
              </a:rPr>
              <a:t>대칭축과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2240280"/>
            <a:ext cx="1737360" cy="731520"/>
          </a:xfrm>
          <a:prstGeom prst="roundRect">
            <a:avLst>
              <a:gd name="adj" fmla="val 18749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224028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맑은 고딕"/>
                <a:ea typeface="맑은 고딕"/>
              </a:rPr>
              <a:t>으로 만나고,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맑은 고딕"/>
                <a:ea typeface="맑은 고딕"/>
              </a:rPr>
              <a:t>대칭축은 그 선분을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3108960"/>
            <a:ext cx="1737360" cy="731520"/>
          </a:xfrm>
          <a:prstGeom prst="roundRect">
            <a:avLst>
              <a:gd name="adj" fmla="val 18749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310896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맑은 고딕"/>
                <a:ea typeface="맑은 고딕"/>
              </a:rPr>
              <a:t>로 똑같이 나눈다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2336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5A6B7F"/>
                </a:solidFill>
                <a:latin typeface="맑은 고딕"/>
                <a:ea typeface="맑은 고딕"/>
              </a:rPr>
              <a:t>활동지 뒷면 맨 아래에 써요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749807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교사 메모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822960"/>
          </a:xfrm>
          <a:prstGeom prst="roundRect">
            <a:avLst>
              <a:gd name="adj" fmla="val 16666"/>
            </a:avLst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거울 그림판은 아무것도 저장·전송하지 않아요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78638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맑은 고딕"/>
                <a:ea typeface="맑은 고딕"/>
              </a:rPr>
              <a:t>• 반사 확인: 수업 전 '점 찍기'로 양쪽 칸 수가 같은지 본다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맑은 고딕"/>
                <a:ea typeface="맑은 고딕"/>
              </a:rPr>
              <a:t>• AIDT가 없으면 종이 접기 + 자로 거리 재기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맑은 고딕"/>
                <a:ea typeface="맑은 고딕"/>
              </a:rPr>
              <a:t>• 다시 만드는 프롬프트·정답은 교사용 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