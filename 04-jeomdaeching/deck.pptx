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4편 문제 출제단. 3편에서는 접어서 겹치는 선대칭도형을 배웠고, 오늘은 돌려서 겹치는 점대칭도형이다. 오늘 우리는 문제를 푸는 사람이 아니라, 문제가 좋은지 나쁜지 가려내고 직접 만드는 '출제단'이 된다고 소개한다.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0~5분 도입. 카드 모양(스페이드·다이아), 글자 N·S·H, 평행사변형. "이 그림을 거꾸로(180°) 돌려도 똑같아 보이는 것은?" 번호로 손을 들어 투표하고 이유를 한 마디씩 듣는다. 정답(②~⑥, 스페이드만 아님)은 다음 장에서 짚는다. 종이에 그린 그림을 실제로 거꾸로 들어 보여 주면 더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투표 결과를 정리한다. 3편 거울 그림판처럼 접어서 겹치는 것은 스페이드·다이아·H(H는 세로·가로 둘 다). N·S·평행사변형은 어떻게 접어도 겹치지 않지만 180° 돌리면 겹친다. 다이아와 H는 둘 다 된다. "돌려서 겹치는 도형에도 이름이 있을까?"로 AIDT로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5~15분. AIDT 점대칭도형 차시를 연다. 도형을 한 점을 중심으로 180° 돌려 처음 도형과 완전히 겹치는지 조작한다. 어느 점을 중심으로 돌려야 겹치는지 찾게 하고, 대응점끼리 이어 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AIDT에서 돌려 본 뒤 이름을 붙인다: 점대칭도형, 대칭의 중심, 대응점·대응변·대응각. 그림에서 ㄱ과 ㄱ′, ㄴ과 ㄴ′을 이은 점선이 모두 대칭의 중심을 지난다는 것만 짚는다. 거리가 같다는 것은 활동에서 문제를 풀며 쓴다. (선택) 점대칭 그림판(mirror2.html)을 '대칭: 점대칭'으로 놓고 점을 하나 찍어 양쪽 거리가 같게 뜨는 것을 한 번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15분. 모둠에 문제 카드 12장과 활동지를 1장씩 나눠 준다. 4명 모둠이면 한 사람이 3장씩 풀고, 다 풀면 서로 바꿔 확인한다. 답은 활동지 앞면 검토표의 '우리 답' 칸에 적고, ③⑧⑨처럼 그리는 문제는 카드에 바로 그린다. 이상한 문제가 있어도 아직 말하지 말고 '고칠 점'에 메모만 해 두라고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카드마다 세 기준으로 ○×를 적고 별점을 매긴다. ① 정답이 하나뿐인가? ② 점대칭 개념(대칭의 중심·대응점·대응변·대응각·180° 돌리기)을 묻는가? ③ 그림과 숫자가 정확한가? ○가 3개면 별 셋, 2개면 별 둘, 1개 이하면 별 하나. 별이 셋이 아니면 '고칠 점'을 한 줄로 쓴다. ×를 줄 때는 반드시 성질로 이유를 말하게 한다("대응점을 이은 선분이 중심을 안 지나니까"). 끝나면 "별 1~2개짜리는 몇 번?"을 모둠별로 발표시킨다.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⑪⑫는 일부러 흠을 넣은 카드다. ⑪: 대칭의 중심에서 꼭짓점까지 3cm라는 정보만으로는 변의 길이가 정해지지 않는다. 같은 3cm라도 납작한 평행사변형도, 정사각형도 될 수 있다 → 정답이 하나가 아니다. ⑫: 문장은 '점대칭도형'이라 하는데 그림은 윗변과 아랫변 길이가 달라 180° 돌려도 겹치지 않는다. 자로 재 보게 한다. 대응변 ㄱㄹ과 ㄴㄷ의 길이가 같아야 하는데 다르다 → 풀 수 없는 문제. 이 카드들은 AI(NotebookLM)로 문제를 뽑을 때 실제로 나올 수 있는 흠이다. AI가 만든 문제도 사람이 검토해야 한다는 것을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30분 무렵. 모둠이 새 문제를 하나 만든다. 오늘 카드 중 별 셋짜리를 본떠도 되고, ⑪⑫를 고쳐 좋은 문제로 만들어도 된다. 그림이 필요하면 활동지 격자 칸에 그리고 대칭의 중심도 찍는다. 세 기준으로 스스로 점검한 뒤 옆 모둠과 바꿔 풀고 별점을 매긴다.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35분. 좋은 문제(별 셋)는 모두 성질 하나를 쓰게 만든다는 것을 짚는다. ⑤⑥은 대응변·대응각이 같다는 성질, ③⑧은 대응점을 이은 선분이 중심을 지난다는 성질, ⑦은 중심이 그 선분을 둘로 똑같이 나눈다는 성질. ⑪이 나쁜 문제였던 이유도 '쓸 수 있는 성질이 없어서'라고 다시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AIDT 형성평가 2~3문항을 개별로 푼다. 대칭의 중심 찾기, 대응점·대응변 찾기, 거리 구하기 문항에서 오늘 쓴 성질을 근거로 푸는지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정답: 중심, 둘. 활동지 뒷면 '오늘 배운 성질 한 줄'에 쓰게 한다. 다 쓴 모둠은 ⑫ 카드를 평행사변형으로 고쳐 그려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반 카드를 더 만들 때는 교사가 NotebookLM에 교과서 해당 쪽(본인 교과서 촬영·PDF)과 꾸러미의 출제 가이드 문장을 소스로 넣고, 생성 프롬프트로 12문제를 뽑는다. 결과는 세 기준으로 거르고, 그림 설명은 직접 그려 확인한다. 흠 있는 문제 1~2개는 버리지 말고 검토용 카드로 남긴다. 점대칭 그림판은 저장·전송이 없고, 대칭 버튼은 세로→가로→점대칭 순으로 바뀌며 누르면 그림이 지워진다.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57800" y="502920"/>
            <a:ext cx="342900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cover.png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764" y="585216"/>
            <a:ext cx="3243072" cy="2432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8580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맑은 고딕"/>
                <a:ea typeface="맑은 고딕"/>
              </a:rPr>
              <a:t>문제 출제단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B134"/>
                </a:solidFill>
                <a:latin typeface="맑은 고딕"/>
                <a:ea typeface="맑은 고딕"/>
              </a:rPr>
              <a:t>점대칭도형,</a:t>
            </a:r>
          </a:p>
          <a:p>
            <a:pPr algn="l">
              <a:lnSpc>
                <a:spcPct val="115000"/>
              </a:lnSpc>
            </a:pPr>
            <a:r>
              <a:rPr sz="2800" b="1">
                <a:solidFill>
                  <a:srgbClr val="F2B134"/>
                </a:solidFill>
                <a:latin typeface="맑은 고딕"/>
                <a:ea typeface="맑은 고딕"/>
              </a:rPr>
              <a:t>좋은 문제를 가려내라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DCE6F0"/>
                </a:solidFill>
                <a:latin typeface="맑은 고딕"/>
                <a:ea typeface="맑은 고딕"/>
              </a:rPr>
              <a:t>비상 수학 5-2 · 3단원 합동과 대칭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DCE6F0"/>
                </a:solidFill>
                <a:latin typeface="맑은 고딕"/>
                <a:ea typeface="맑은 고딕"/>
              </a:rPr>
              <a:t>점대칭도형과 그 성질 · 40분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180° 돌려도 그대로일까?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12064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intro_shapes.png" descr="intro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1" y="1243584"/>
            <a:ext cx="4669536" cy="35021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06440" y="1188720"/>
            <a:ext cx="2880360" cy="1600200"/>
          </a:xfrm>
          <a:prstGeom prst="roundRect">
            <a:avLst>
              <a:gd name="adj" fmla="val 857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188720"/>
            <a:ext cx="288036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거꾸로 돌려도</a:t>
            </a:r>
          </a:p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똑같은 것은?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017520"/>
            <a:ext cx="2880360" cy="178308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3017520"/>
            <a:ext cx="269748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번호로 투표!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①~⑥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접으면? 돌리면?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97763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B7791F"/>
                </a:solidFill>
                <a:latin typeface="맑은 고딕"/>
                <a:ea typeface="맑은 고딕"/>
              </a:rPr>
              <a:t>접어서 겹치기 (3편)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5661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2A9D5C"/>
                </a:solidFill>
                <a:latin typeface="맑은 고딕"/>
                <a:ea typeface="맑은 고딕"/>
              </a:rPr>
              <a:t>○ </a:t>
            </a: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스페이드 · 다이아 · H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D9544D"/>
                </a:solidFill>
                <a:latin typeface="맑은 고딕"/>
                <a:ea typeface="맑은 고딕"/>
              </a:rPr>
              <a:t>× </a:t>
            </a: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N · S · 평행사변형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188720"/>
            <a:ext cx="3977639" cy="2743200"/>
          </a:xfrm>
          <a:prstGeom prst="roundRect">
            <a:avLst>
              <a:gd name="adj" fmla="val 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280160"/>
            <a:ext cx="39776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2B134"/>
                </a:solidFill>
                <a:latin typeface="맑은 고딕"/>
                <a:ea typeface="맑은 고딕"/>
              </a:rPr>
              <a:t>180° 돌려서 겹치기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920240"/>
            <a:ext cx="35661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8FD3A8"/>
                </a:solidFill>
                <a:latin typeface="맑은 고딕"/>
                <a:ea typeface="맑은 고딕"/>
              </a:rPr>
              <a:t>○ </a:t>
            </a: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다이아 · N · S · H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   · 평행사변형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F4A09B"/>
                </a:solidFill>
                <a:latin typeface="맑은 고딕"/>
                <a:ea typeface="맑은 고딕"/>
              </a:rPr>
              <a:t>× </a:t>
            </a: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스페이드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20000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거울(접기)로는 안 되는데, 돌리면 되는 도형이 있다!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태블릿으로 돌려 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058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A6B7F"/>
                </a:solidFill>
                <a:latin typeface="맑은 고딕"/>
                <a:ea typeface="맑은 고딕"/>
              </a:rPr>
              <a:t>비상 AIDT · 점대칭도형 차시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596896" cy="219456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810512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1051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0048"/>
            <a:ext cx="25968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180° 돌려서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겹쳐 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645920"/>
            <a:ext cx="2596896" cy="219456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810512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81051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5968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돌리는 중심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찾기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645920"/>
            <a:ext cx="2596896" cy="219456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04304" y="1810512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181051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670048"/>
            <a:ext cx="25968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대응점끼리</a:t>
            </a:r>
          </a:p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선으로 잇기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41648"/>
            <a:ext cx="8229600" cy="731520"/>
          </a:xfrm>
          <a:prstGeom prst="roundRect">
            <a:avLst>
              <a:gd name="adj" fmla="val 18749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180° 돌려 완전히 겹치면 점대칭도형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이렇게 부르기로 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794760" cy="283464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concept.png" descr="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7295"/>
            <a:ext cx="3703320" cy="277749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434840" y="1188720"/>
            <a:ext cx="4251960" cy="859536"/>
          </a:xfrm>
          <a:prstGeom prst="roundRect">
            <a:avLst>
              <a:gd name="adj" fmla="val 1595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188720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180° 돌려 완전히 겹치는 도형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→ </a:t>
            </a: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점대칭도형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39696"/>
            <a:ext cx="4251960" cy="859536"/>
          </a:xfrm>
          <a:prstGeom prst="roundRect">
            <a:avLst>
              <a:gd name="adj" fmla="val 1595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39696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돌릴 때 가운데 점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→ </a:t>
            </a: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대칭의 중심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90672"/>
            <a:ext cx="4251960" cy="859536"/>
          </a:xfrm>
          <a:prstGeom prst="roundRect">
            <a:avLst>
              <a:gd name="adj" fmla="val 1595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90672"/>
            <a:ext cx="393192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겹치는 점·변·각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→ </a:t>
            </a: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대응점·대응변·대응각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점 ㄱ의 대응점은 점 ㄱ′ · 점선은 모두 대칭의 중심을 지나요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문제 출제단 ① 풀기 · 7분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93192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card05.png" descr="card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8770"/>
            <a:ext cx="3749039" cy="28117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17720" y="1188720"/>
            <a:ext cx="40690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00600" y="1417320"/>
            <a:ext cx="640080" cy="640080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417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18872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카드 12장을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모둠이 나눠 풀어요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423160"/>
            <a:ext cx="40690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2651760"/>
            <a:ext cx="640080" cy="640080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651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2316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답은 활동지 앞면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'우리 답' 칸에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657600"/>
            <a:ext cx="406908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600" y="3886200"/>
            <a:ext cx="640080" cy="640080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8862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657600"/>
            <a:ext cx="2971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그리는 문제는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카드에 바로 그려요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문제 출제단 ② 검토 · 7분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8229600" cy="786384"/>
          </a:xfrm>
          <a:prstGeom prst="roundRect">
            <a:avLst>
              <a:gd name="adj" fmla="val 1744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1792" y="1234440"/>
            <a:ext cx="603504" cy="603504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143000"/>
            <a:ext cx="71323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정답이 하나뿐인가?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39112"/>
            <a:ext cx="8229600" cy="786384"/>
          </a:xfrm>
          <a:prstGeom prst="roundRect">
            <a:avLst>
              <a:gd name="adj" fmla="val 1744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1792" y="2130552"/>
            <a:ext cx="603504" cy="603504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13055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039112"/>
            <a:ext cx="71323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점대칭 개념을 묻는가?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35224"/>
            <a:ext cx="8229600" cy="786384"/>
          </a:xfrm>
          <a:prstGeom prst="roundRect">
            <a:avLst>
              <a:gd name="adj" fmla="val 1744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3026664"/>
            <a:ext cx="603504" cy="603504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02666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935224"/>
            <a:ext cx="71323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그림과 숫자가 정확한가?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2"/>
            <a:ext cx="2651760" cy="886968"/>
          </a:xfrm>
          <a:prstGeom prst="roundRect">
            <a:avLst>
              <a:gd name="adj" fmla="val 15463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13632"/>
            <a:ext cx="11430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○ 3개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13632"/>
            <a:ext cx="146304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B7791F"/>
                </a:solidFill>
                <a:latin typeface="맑은 고딕"/>
                <a:ea typeface="맑은 고딕"/>
              </a:rPr>
              <a:t>★★★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913632"/>
            <a:ext cx="2651760" cy="886968"/>
          </a:xfrm>
          <a:prstGeom prst="roundRect">
            <a:avLst>
              <a:gd name="adj" fmla="val 15463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3913632"/>
            <a:ext cx="11430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○ 2개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913632"/>
            <a:ext cx="146304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B7791F"/>
                </a:solidFill>
                <a:latin typeface="맑은 고딕"/>
                <a:ea typeface="맑은 고딕"/>
              </a:rPr>
              <a:t>★★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913632"/>
            <a:ext cx="2651760" cy="886968"/>
          </a:xfrm>
          <a:prstGeom prst="roundRect">
            <a:avLst>
              <a:gd name="adj" fmla="val 15463"/>
            </a:avLst>
          </a:prstGeom>
          <a:solidFill>
            <a:srgbClr val="FBE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114300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1개 이하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913632"/>
            <a:ext cx="146304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B7791F"/>
                </a:solidFill>
                <a:latin typeface="맑은 고딕"/>
                <a:ea typeface="맑은 고딕"/>
              </a:rPr>
              <a:t>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별이 모자란 문제, 왜 나쁠까?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D9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2801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D9544D"/>
                </a:solidFill>
                <a:latin typeface="맑은 고딕"/>
                <a:ea typeface="맑은 고딕"/>
              </a:rPr>
              <a:t>답을 정할 수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36576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중심에서 꼭짓점까지 3cm만으로는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변의 길이를 알 수 없어요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(도형이 여러 가지)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3657600" cy="731520"/>
          </a:xfrm>
          <a:prstGeom prst="roundRect">
            <a:avLst>
              <a:gd name="adj" fmla="val 18749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E6B3A"/>
                </a:solidFill>
                <a:latin typeface="맑은 고딕"/>
                <a:ea typeface="맑은 고딕"/>
              </a:rPr>
              <a:t>기준 ① 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02336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1280160"/>
            <a:ext cx="640080" cy="640080"/>
          </a:xfrm>
          <a:prstGeom prst="ellipse">
            <a:avLst/>
          </a:prstGeom>
          <a:solidFill>
            <a:srgbClr val="D9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2801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</a:rPr>
              <a:t>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2801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D9544D"/>
                </a:solidFill>
                <a:latin typeface="맑은 고딕"/>
                <a:ea typeface="맑은 고딕"/>
              </a:rPr>
              <a:t>그림이 틀렸다</a:t>
            </a:r>
          </a:p>
        </p:txBody>
      </p:sp>
      <p:pic>
        <p:nvPicPr>
          <p:cNvPr id="16" name="Picture card12.png" descr="car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20240"/>
            <a:ext cx="2377440" cy="1783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86600" y="1920240"/>
            <a:ext cx="155448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윗변·아랫변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길이가 달라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돌려도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안 겹쳐요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931920"/>
            <a:ext cx="3657600" cy="731520"/>
          </a:xfrm>
          <a:prstGeom prst="roundRect">
            <a:avLst>
              <a:gd name="adj" fmla="val 18749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9319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E6B3A"/>
                </a:solidFill>
                <a:latin typeface="맑은 고딕"/>
                <a:ea typeface="맑은 고딕"/>
              </a:rPr>
              <a:t>기준 ③ 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문제 출제단 ③ 출제 · 6분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96896" cy="23317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325880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문제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5968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활동지 뒷면에</a:t>
            </a:r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문제 1개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188720"/>
            <a:ext cx="2596896" cy="23317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325880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3258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148840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정답·해설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651760"/>
            <a:ext cx="25968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정답과 한 줄 해설을</a:t>
            </a:r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써요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188720"/>
            <a:ext cx="2596896" cy="23317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4304" y="1325880"/>
            <a:ext cx="768096" cy="7680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1325880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148840"/>
            <a:ext cx="2596896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자가 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651760"/>
            <a:ext cx="25968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세 기준 ○×</a:t>
            </a:r>
          </a:p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×가 있으면 고쳐요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8229600" cy="1051560"/>
          </a:xfrm>
          <a:prstGeom prst="roundRect">
            <a:avLst>
              <a:gd name="adj" fmla="val 13043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82296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맑은 고딕"/>
                <a:ea typeface="맑은 고딕"/>
              </a:rPr>
              <a:t>옆 모둠과 바꿔 풀고, 별점을 매겨 줘요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좋은 문제는 성질을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B7791F"/>
                </a:solidFill>
                <a:latin typeface="맑은 고딕"/>
                <a:ea typeface="맑은 고딕"/>
              </a:rPr>
              <a:t>카드에서 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051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교과서 성질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0020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⑤⑥ 길이·각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00200"/>
            <a:ext cx="548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7791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0020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600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대응변의 길이와 대응각의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크기가 서로 같다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5768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15768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③⑧ 중심 지나기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548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7791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715768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71576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대응점을 이은 선분은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대칭의 중심을 지난다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31335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31750">
            <a:solidFill>
              <a:srgbClr val="F2B1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31335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F3A5F"/>
                </a:solidFill>
                <a:latin typeface="맑은 고딕"/>
                <a:ea typeface="맑은 고딕"/>
              </a:rPr>
              <a:t>⑦ 5cm, 5cm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31335"/>
            <a:ext cx="548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B7791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831335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39" y="3831335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대칭의 중심은 그 선분을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둘로 똑같이 나눈다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AIDT로 확인해요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2103120" cy="3429000"/>
          </a:xfrm>
          <a:prstGeom prst="roundRect">
            <a:avLst>
              <a:gd name="adj" fmla="val 652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481328"/>
            <a:ext cx="1737360" cy="2834640"/>
          </a:xfrm>
          <a:prstGeom prst="roundRect">
            <a:avLst>
              <a:gd name="adj" fmla="val 78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81328"/>
            <a:ext cx="1737360" cy="2834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2B134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A5F"/>
                </a:solidFill>
                <a:latin typeface="맑은 고딕"/>
                <a:ea typeface="맑은 고딕"/>
              </a:rPr>
              <a:t>형성평가</a:t>
            </a:r>
          </a:p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3A5F"/>
                </a:solidFill>
                <a:latin typeface="맑은 고딕"/>
                <a:ea typeface="맑은 고딕"/>
              </a:rPr>
              <a:t>2~3문항을 풀어요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7180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혼자서 풀어요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1F3A5F"/>
                </a:solidFill>
                <a:latin typeface="맑은 고딕"/>
                <a:ea typeface="맑은 고딕"/>
              </a:rPr>
              <a:t>(비상 AIDT 해당 차시)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F3A5F"/>
                </a:solidFill>
                <a:latin typeface="맑은 고딕"/>
                <a:ea typeface="맑은 고딕"/>
              </a:rPr>
              <a:t>오늘 배운 것 한 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3611880"/>
          </a:xfrm>
          <a:prstGeom prst="roundRect">
            <a:avLst>
              <a:gd name="adj" fmla="val 3797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대응점을 이은 선분은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대칭의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965960"/>
            <a:ext cx="1737360" cy="64008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965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을 지나고,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7589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대칭의 중심은 그 선분을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83280"/>
            <a:ext cx="1737360" cy="64008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9050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338328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F3A5F"/>
                </a:solidFill>
                <a:latin typeface="맑은 고딕"/>
                <a:ea typeface="맑은 고딕"/>
              </a:rPr>
              <a:t>로 똑같이 나눈다.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5A6B7F"/>
                </a:solidFill>
                <a:latin typeface="맑은 고딕"/>
                <a:ea typeface="맑은 고딕"/>
              </a:rPr>
              <a:t>활동지 뒷면 맨 아래에 써요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"/>
            <a:ext cx="749807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교사 메모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822960"/>
          </a:xfrm>
          <a:prstGeom prst="roundRect">
            <a:avLst>
              <a:gd name="adj" fmla="val 16666"/>
            </a:avLst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3A5F"/>
                </a:solidFill>
                <a:latin typeface="맑은 고딕"/>
                <a:ea typeface="맑은 고딕"/>
              </a:rPr>
              <a:t>학생은 AI 계정이 필요 없어요 (NotebookLM은 교사만)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78638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• 카드 더 만들기: NotebookLM + 출제 가이드 (교사용 PDF)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• AI가 만든 문제는 세 기준으로 거르고, 흠 1~2개는 검토용으로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• 정답·해설과 점대칭 그림판 요령은 교사용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